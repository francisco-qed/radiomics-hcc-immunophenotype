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Individual Patient Clinical Journey &amp; Biomarker Assessment</a:t>
            </a:r>
          </a:p>
        </p:txBody>
      </p:sp>
      <p:sp>
        <p:nvSpPr>
          <p:cNvPr id="3" name="Right Arrow 2"/>
          <p:cNvSpPr/>
          <p:nvPr/>
        </p:nvSpPr>
        <p:spPr>
          <a:xfrm>
            <a:off x="731520" y="4078224"/>
            <a:ext cx="10728655" cy="73152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920240" cy="22860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0284C7"/>
                </a:solidFill>
              </a:defRPr>
            </a:pPr>
            <a:r>
              <a:t>Baseline Biomarkers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mpMRI (Abdominal)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Biopsy (Pathology)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Baseline ctDNA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1682496" y="3566160"/>
            <a:ext cx="18288" cy="5303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81912" y="400507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Baseline</a:t>
            </a:r>
            <a:br/>
            <a:r>
              <a:t>(≤30d Pre-Tx)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280160"/>
            <a:ext cx="1645920" cy="22860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16A34A"/>
                </a:solidFill>
              </a:defRPr>
            </a:pPr>
            <a:r>
              <a:t>Begin Treatment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First-Line ICI-based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  Therapy (SOC)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48456" y="3566160"/>
            <a:ext cx="18288" cy="5303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47872" y="400507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Day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80160"/>
            <a:ext cx="1645920" cy="228600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CA8A04"/>
                </a:solidFill>
              </a:defRPr>
            </a:pPr>
            <a:r>
              <a:t>Early Biomarker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Blood ctDNA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  (ΔctDNA collection)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77256" y="3566160"/>
            <a:ext cx="18288" cy="530352"/>
          </a:xfrm>
          <a:prstGeom prst="rect">
            <a:avLst/>
          </a:prstGeom>
          <a:solidFill>
            <a:srgbClr val="CA8A04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6672" y="400507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Week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280160"/>
            <a:ext cx="192024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D97706"/>
                </a:solidFill>
              </a:defRPr>
            </a:pPr>
            <a:r>
              <a:t>Response Assessment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mpMRI (Abdominal)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RECIST 1.1 / mRECIST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Pathological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43216" y="3566160"/>
            <a:ext cx="18288" cy="5303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42632" y="400507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Week 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280160"/>
            <a:ext cx="1920240" cy="228600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EA580C"/>
                </a:solidFill>
              </a:defRPr>
            </a:pPr>
            <a:r>
              <a:t>Second Response Assessment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mpMRI (Abdominal)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RECIST 1.1 / mRECIST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46336" y="3566160"/>
            <a:ext cx="18288" cy="53035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400507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Week 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98480" y="1280160"/>
            <a:ext cx="1645920" cy="22860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b="1" sz="1200">
                <a:solidFill>
                  <a:srgbClr val="9333EA"/>
                </a:solidFill>
              </a:defRPr>
            </a:pPr>
            <a:r>
              <a:t>Clinical Follow-Up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Routine Clinical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  Surveillance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• Survival Follow-up</a:t>
            </a:r>
          </a:p>
          <a:p>
            <a:pPr algn="l">
              <a:defRPr sz="1000">
                <a:solidFill>
                  <a:srgbClr val="334155"/>
                </a:solidFill>
              </a:defRPr>
            </a:pPr>
            <a:r>
              <a:t>  (Up to 2 Years)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512296" y="3566160"/>
            <a:ext cx="18288" cy="530352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11712" y="4005072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42976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1E293B"/>
                </a:solidFill>
              </a:defRPr>
            </a:pPr>
            <a:r>
              <a:t>Month 12 - 24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